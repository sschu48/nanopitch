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9" d="100"/>
          <a:sy n="159" d="100"/>
        </p:scale>
        <p:origin x="3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C99E7-311F-75CC-4B3B-BCFB6F966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224990-56ED-D56A-9633-D71EECE5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5B4FD-E032-3E79-BA15-F09352122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163F1-11CC-9BFE-4358-5E2DC7386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3DAFB-42B0-0717-F225-DEEEAD73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1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E258-42F0-A181-9DE7-90B3ED723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FEEF3-AAB2-1BE7-ED0D-8A9B6E67B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67518-375C-1A7F-3B1D-9C45ABA0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56FB6-FE26-4918-9372-5A5504710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0568F-43D0-E474-4DF1-38D0C369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9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FCE8-E501-9118-B5E8-6F817A931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BCB28-C535-BD23-FD4F-FD2203339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A5135-1942-98A2-BAD0-6757AADA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AC07F-FFA1-3BFA-63B5-46FCA01C4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7633E-6F46-6BC8-BEFC-E3CE1EAD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618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41C1-6CC4-90FE-2155-E57F1498A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94B7C8-B9EF-ABD0-88DD-707A17435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C507A-9690-BD1C-B287-1662F3387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7439C-AE2B-AFA4-40E9-0B3E1953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AFD5D-688F-1F34-CC46-2028CB502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EFCC3-052F-7E0D-B164-A0904BDB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91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95283-0E2F-6909-0D93-0FBC579F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18950-809C-1BF3-6058-1C499AB46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202C7-B345-392D-282F-00E65EACD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5D4F5-71FB-A6D5-4F1B-E122E9D8F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3BCD6-6253-6A16-2035-67FE9444AA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97C001-7C9A-D0C5-8E20-7ECA846B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7062D-AEB6-A563-EF72-31A58031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88DD01-02BF-346A-66B1-963EB59D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9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2B931-4575-023C-476A-1423C5AF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2A4B9-01D6-BF01-2304-6949B017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3BF32-559D-3035-753D-312CDC98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70BFF-9DF0-8732-F0B9-80714677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52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C7613C-66D1-8489-DDB6-F8722437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22FE68-852A-9460-AE0E-807633D3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29453-C114-9650-6FEB-34714418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45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427-23CF-F6C7-86B2-1A46F4E7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FA993-27C4-608C-3C22-2EA1B94E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C52EF-A575-0208-C5CD-C088D8D8E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804B4-4B96-759B-6C33-531FA7A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EB284-F28E-620E-91E6-5A7A99A62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20B14-E797-6C45-813D-48A3CAFF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70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BB17-1FD7-0EE4-2586-A0BADEB49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19D6E6-4BCC-0E21-45C4-61D0E664D5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74370C-1E97-C35F-D7A1-952EF4BFC8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DF0E4-FE28-BB16-E44B-3FB2FC7A4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2F1DB-D924-93BC-3CDE-A7363705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F68466-C28D-3F1D-5F57-30F639A99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486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27DF-00E5-4031-0EB8-24CFE296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2D150-D734-4D13-F46E-98EEDCD5C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B65E-A963-C1E6-6379-6DCA643F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FDF78-917A-CA66-947A-CBBC13D5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FC726-020D-6B46-B14F-6DB5BFA8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81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1216C8-401E-F834-02FB-2F202D154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EDCF5-509D-708B-B1DF-DAED5CBCF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C07E3-DEAF-2776-7C9E-AAC48801A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3415E-874E-1715-6137-DC0B6F80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FB71E-6941-FC0A-3C4E-A7C5C64A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87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2B3BCA-C84F-4E0B-1011-F73153D9F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2CCDA-AFE5-F441-F5FB-2AA9C435B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3AB27-6665-F477-EE81-5040E739E1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C6162C-A944-4087-A57A-C408C75C2D1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07C97-AF0B-C039-5BC2-091559CC1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7684-5FA0-640F-A28F-A0AC516F5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24FBEC-18F6-4B30-994B-22CBC5A940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59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3785E3F-3846-750D-D757-4C7F44838DD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A8DA1D-0A96-424B-AC85-4E8939E77A3C}"/>
              </a:ext>
            </a:extLst>
          </p:cNvPr>
          <p:cNvSpPr/>
          <p:nvPr/>
        </p:nvSpPr>
        <p:spPr>
          <a:xfrm>
            <a:off x="502920" y="310896"/>
            <a:ext cx="1600200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LIVE DEMO INTRO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84930-7DB2-E782-5E7B-4464DF4E4F78}"/>
              </a:ext>
            </a:extLst>
          </p:cNvPr>
          <p:cNvSpPr txBox="1"/>
          <p:nvPr/>
        </p:nvSpPr>
        <p:spPr>
          <a:xfrm>
            <a:off x="594360" y="914400"/>
            <a:ext cx="658368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4800" b="1">
                <a:solidFill>
                  <a:srgbClr val="242424"/>
                </a:solidFill>
                <a:latin typeface="Aptos" panose="020B0004020202020204" pitchFamily="34" charset="0"/>
              </a:rPr>
              <a:t>NanoPitch Coach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073FCE-F168-4589-2C77-A42880E5BAD4}"/>
              </a:ext>
            </a:extLst>
          </p:cNvPr>
          <p:cNvSpPr txBox="1"/>
          <p:nvPr/>
        </p:nvSpPr>
        <p:spPr>
          <a:xfrm>
            <a:off x="621792" y="1664208"/>
            <a:ext cx="704088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200">
                <a:solidFill>
                  <a:srgbClr val="5F5F5F"/>
                </a:solidFill>
                <a:latin typeface="Aptos" panose="020B0004020202020204" pitchFamily="34" charset="0"/>
              </a:rPr>
              <a:t>Four-axis singing feedback from one browser recording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E3AB2-CACE-C8C7-63FF-B48094A4E537}"/>
              </a:ext>
            </a:extLst>
          </p:cNvPr>
          <p:cNvSpPr txBox="1"/>
          <p:nvPr/>
        </p:nvSpPr>
        <p:spPr>
          <a:xfrm>
            <a:off x="804672" y="2395728"/>
            <a:ext cx="5120640" cy="20518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000">
                <a:solidFill>
                  <a:srgbClr val="242424"/>
                </a:solidFill>
                <a:latin typeface="Aptos" panose="020B0004020202020204" pitchFamily="34" charset="0"/>
              </a:rPr>
              <a:t>Records a short vocal take in the browser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000">
                <a:solidFill>
                  <a:srgbClr val="242424"/>
                </a:solidFill>
                <a:latin typeface="Aptos" panose="020B0004020202020204" pitchFamily="34" charset="0"/>
              </a:rPr>
              <a:t>Shows pitch, tempo, and volume/dynamics while the take is analyzed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000">
                <a:solidFill>
                  <a:srgbClr val="242424"/>
                </a:solidFill>
                <a:latin typeface="Aptos" panose="020B0004020202020204" pitchFamily="34" charset="0"/>
              </a:rPr>
              <a:t>Adds vocal technique from a local PyTorch model after recording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C1BC57E-456E-1758-82B2-E1B1E50AF82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46520" y="914400"/>
            <a:ext cx="4983480" cy="278892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03FA7D-F9EA-F618-4534-089CF25DD213}"/>
              </a:ext>
            </a:extLst>
          </p:cNvPr>
          <p:cNvSpPr/>
          <p:nvPr/>
        </p:nvSpPr>
        <p:spPr>
          <a:xfrm>
            <a:off x="804672" y="5230368"/>
            <a:ext cx="3017520" cy="310896"/>
          </a:xfrm>
          <a:prstGeom prst="roundRect">
            <a:avLst/>
          </a:prstGeom>
          <a:solidFill>
            <a:srgbClr val="30FC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3-minute setup, then live recording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7B4BAE-AF2A-AF49-A3DF-6DF237FAF837}"/>
              </a:ext>
            </a:extLst>
          </p:cNvPr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48BF38-9C5B-E8EA-5C23-D4BD08D624D7}"/>
              </a:ext>
            </a:extLst>
          </p:cNvPr>
          <p:cNvSpPr txBox="1"/>
          <p:nvPr/>
        </p:nvSpPr>
        <p:spPr>
          <a:xfrm>
            <a:off x="502920" y="6547104"/>
            <a:ext cx="1115568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F5F5F"/>
                </a:solidFill>
                <a:latin typeface="Aptos" panose="020B0004020202020204" pitchFamily="34" charset="0"/>
              </a:rPr>
              <a:t>Presenter cue: Open with the user story: a singer finishes a take and immediately sees what changed.</a:t>
            </a:r>
          </a:p>
        </p:txBody>
      </p:sp>
    </p:spTree>
    <p:extLst>
      <p:ext uri="{BB962C8B-B14F-4D97-AF65-F5344CB8AC3E}">
        <p14:creationId xmlns:p14="http://schemas.microsoft.com/office/powerpoint/2010/main" val="161407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F7DD31-3619-572C-8AEA-464246DAC28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373DB3-F4F4-1E2E-0918-08224702E025}"/>
              </a:ext>
            </a:extLst>
          </p:cNvPr>
          <p:cNvSpPr/>
          <p:nvPr/>
        </p:nvSpPr>
        <p:spPr>
          <a:xfrm>
            <a:off x="502920" y="310896"/>
            <a:ext cx="1600200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WHY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F5670-B0E8-A3CB-4CE6-05B7A38A7E47}"/>
              </a:ext>
            </a:extLst>
          </p:cNvPr>
          <p:cNvSpPr txBox="1"/>
          <p:nvPr/>
        </p:nvSpPr>
        <p:spPr>
          <a:xfrm>
            <a:off x="594360" y="804672"/>
            <a:ext cx="96012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242424"/>
                </a:solidFill>
                <a:latin typeface="Aptos" panose="020B0004020202020204" pitchFamily="34" charset="0"/>
              </a:rPr>
              <a:t>Singers need immediate, inspectable feedback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59E98-6ACD-688C-7A8F-9967ECF61041}"/>
              </a:ext>
            </a:extLst>
          </p:cNvPr>
          <p:cNvSpPr txBox="1"/>
          <p:nvPr/>
        </p:nvSpPr>
        <p:spPr>
          <a:xfrm>
            <a:off x="822960" y="1600200"/>
            <a:ext cx="5623560" cy="27905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Beginners often hear that a take was off, but not which part changed.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NanoPitch turns one take into concrete signals: pitch center, pulse, loudness shape, and technique activity.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The goal is detection-first coaching: make the performance easier to understand before claiming expert grading.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9FB019-8CB7-E09A-AE78-F60303684D7A}"/>
              </a:ext>
            </a:extLst>
          </p:cNvPr>
          <p:cNvSpPr/>
          <p:nvPr/>
        </p:nvSpPr>
        <p:spPr>
          <a:xfrm>
            <a:off x="6903720" y="1417320"/>
            <a:ext cx="4343400" cy="3246120"/>
          </a:xfrm>
          <a:prstGeom prst="rect">
            <a:avLst/>
          </a:prstGeom>
          <a:solidFill>
            <a:srgbClr val="F6F6F6"/>
          </a:solidFill>
          <a:ln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42649-10D3-F252-3CA2-C1D60647DA6D}"/>
              </a:ext>
            </a:extLst>
          </p:cNvPr>
          <p:cNvSpPr txBox="1"/>
          <p:nvPr/>
        </p:nvSpPr>
        <p:spPr>
          <a:xfrm>
            <a:off x="7315200" y="1810512"/>
            <a:ext cx="3566160" cy="3077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000" b="1">
                <a:solidFill>
                  <a:srgbClr val="242424"/>
                </a:solidFill>
                <a:latin typeface="Aptos" panose="020B0004020202020204" pitchFamily="34" charset="0"/>
              </a:rPr>
              <a:t>During the demo, watch for: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7E4533-86A6-9D04-19F2-636AD758497B}"/>
              </a:ext>
            </a:extLst>
          </p:cNvPr>
          <p:cNvSpPr txBox="1"/>
          <p:nvPr/>
        </p:nvSpPr>
        <p:spPr>
          <a:xfrm>
            <a:off x="7424928" y="2331720"/>
            <a:ext cx="3429000" cy="141577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Realtime pitch contour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Tempo/onset estimate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Volume control summary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Technique result after stop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92A72-E1ED-A543-4AF4-E7CEBC49FCB0}"/>
              </a:ext>
            </a:extLst>
          </p:cNvPr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64F313-030F-D241-CB2B-4660E5758D24}"/>
              </a:ext>
            </a:extLst>
          </p:cNvPr>
          <p:cNvSpPr txBox="1"/>
          <p:nvPr/>
        </p:nvSpPr>
        <p:spPr>
          <a:xfrm>
            <a:off x="502920" y="6547104"/>
            <a:ext cx="1115568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F5F5F"/>
                </a:solidFill>
                <a:latin typeface="Aptos" panose="020B0004020202020204" pitchFamily="34" charset="0"/>
              </a:rPr>
              <a:t>Presenter cue: Keep this slide human. This is not magic; it is a clearer mirror for a singer.</a:t>
            </a:r>
          </a:p>
        </p:txBody>
      </p:sp>
    </p:spTree>
    <p:extLst>
      <p:ext uri="{BB962C8B-B14F-4D97-AF65-F5344CB8AC3E}">
        <p14:creationId xmlns:p14="http://schemas.microsoft.com/office/powerpoint/2010/main" val="395473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2051D8-B5BE-EFA5-8886-2432ACF4C74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65C19C-E991-D187-7631-FB787EC993B1}"/>
              </a:ext>
            </a:extLst>
          </p:cNvPr>
          <p:cNvSpPr/>
          <p:nvPr/>
        </p:nvSpPr>
        <p:spPr>
          <a:xfrm>
            <a:off x="502920" y="310896"/>
            <a:ext cx="1600200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FOUR AXES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4616F-3776-8F16-3AD6-56744C9FD37F}"/>
              </a:ext>
            </a:extLst>
          </p:cNvPr>
          <p:cNvSpPr txBox="1"/>
          <p:nvPr/>
        </p:nvSpPr>
        <p:spPr>
          <a:xfrm>
            <a:off x="594360" y="749808"/>
            <a:ext cx="896112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242424"/>
                </a:solidFill>
                <a:latin typeface="Aptos" panose="020B0004020202020204" pitchFamily="34" charset="0"/>
              </a:rPr>
              <a:t>One take, four measurements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E0AF423-9962-F042-76C8-C5A58ACE00B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325880"/>
            <a:ext cx="5715000" cy="3218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ED7EE6-1D2A-CC8F-9314-3B02C84745C1}"/>
              </a:ext>
            </a:extLst>
          </p:cNvPr>
          <p:cNvSpPr txBox="1"/>
          <p:nvPr/>
        </p:nvSpPr>
        <p:spPr>
          <a:xfrm>
            <a:off x="6812280" y="1481328"/>
            <a:ext cx="4526280" cy="26468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42424"/>
                </a:solidFill>
                <a:latin typeface="Aptos" panose="020B0004020202020204" pitchFamily="34" charset="0"/>
              </a:rPr>
              <a:t>Pitch: voiced percent, median f0, note range, stability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42424"/>
                </a:solidFill>
                <a:latin typeface="Aptos" panose="020B0004020202020204" pitchFamily="34" charset="0"/>
              </a:rPr>
              <a:t>Tempo: note attacks/onsets and estimated BPM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42424"/>
                </a:solidFill>
                <a:latin typeface="Aptos" panose="020B0004020202020204" pitchFamily="34" charset="0"/>
              </a:rPr>
              <a:t>Volume: RMS loudness contour, average, peak, dynamic range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1900">
                <a:solidFill>
                  <a:srgbClr val="242424"/>
                </a:solidFill>
                <a:latin typeface="Aptos" panose="020B0004020202020204" pitchFamily="34" charset="0"/>
              </a:rPr>
              <a:t>Technique: GT Singer classifier with confidence and timeline activity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9AEDA4-FB70-587D-D6FD-2F372D96446E}"/>
              </a:ext>
            </a:extLst>
          </p:cNvPr>
          <p:cNvSpPr/>
          <p:nvPr/>
        </p:nvSpPr>
        <p:spPr>
          <a:xfrm>
            <a:off x="6812280" y="4983480"/>
            <a:ext cx="3017520" cy="310896"/>
          </a:xfrm>
          <a:prstGeom prst="roundRect">
            <a:avLst/>
          </a:prstGeom>
          <a:solidFill>
            <a:srgbClr val="B0AA7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Pitch + tempo + volume are browser-side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BA59A97-11BF-03F5-127D-3A990952AA18}"/>
              </a:ext>
            </a:extLst>
          </p:cNvPr>
          <p:cNvSpPr/>
          <p:nvPr/>
        </p:nvSpPr>
        <p:spPr>
          <a:xfrm>
            <a:off x="9985248" y="4983480"/>
            <a:ext cx="2240280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Technique comes from local API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D8AF7-DAA1-15A2-A473-264FC38EFDC1}"/>
              </a:ext>
            </a:extLst>
          </p:cNvPr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D981B-D5D6-4F7D-5FA6-5A280C253A87}"/>
              </a:ext>
            </a:extLst>
          </p:cNvPr>
          <p:cNvSpPr txBox="1"/>
          <p:nvPr/>
        </p:nvSpPr>
        <p:spPr>
          <a:xfrm>
            <a:off x="502920" y="6547104"/>
            <a:ext cx="1115568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F5F5F"/>
                </a:solidFill>
                <a:latin typeface="Aptos" panose="020B0004020202020204" pitchFamily="34" charset="0"/>
              </a:rPr>
              <a:t>Presenter cue: Say clearly that all four axes come from the same WAV, so the report is coherent.</a:t>
            </a:r>
          </a:p>
        </p:txBody>
      </p:sp>
    </p:spTree>
    <p:extLst>
      <p:ext uri="{BB962C8B-B14F-4D97-AF65-F5344CB8AC3E}">
        <p14:creationId xmlns:p14="http://schemas.microsoft.com/office/powerpoint/2010/main" val="175857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1547DC-4C8E-8A85-E4EA-3FA5A0429AD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86252D4-C9B7-CAE8-438D-7F4BAD61DC41}"/>
              </a:ext>
            </a:extLst>
          </p:cNvPr>
          <p:cNvSpPr/>
          <p:nvPr/>
        </p:nvSpPr>
        <p:spPr>
          <a:xfrm>
            <a:off x="502920" y="310896"/>
            <a:ext cx="1600200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FACC8-E23C-E0F5-ED3B-4E9A600199BE}"/>
              </a:ext>
            </a:extLst>
          </p:cNvPr>
          <p:cNvSpPr txBox="1"/>
          <p:nvPr/>
        </p:nvSpPr>
        <p:spPr>
          <a:xfrm>
            <a:off x="594360" y="749808"/>
            <a:ext cx="859536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242424"/>
                </a:solidFill>
                <a:latin typeface="Aptos" panose="020B0004020202020204" pitchFamily="34" charset="0"/>
              </a:rPr>
              <a:t>How the live demo is wired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C60EE6-F272-FC4A-3A25-4ED6D793A05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98448"/>
            <a:ext cx="6446520" cy="3630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C2BBF4-F118-9FE1-1382-1E6A5DB55688}"/>
              </a:ext>
            </a:extLst>
          </p:cNvPr>
          <p:cNvSpPr txBox="1"/>
          <p:nvPr/>
        </p:nvSpPr>
        <p:spPr>
          <a:xfrm>
            <a:off x="7452360" y="1508760"/>
            <a:ext cx="3886200" cy="252376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Browser captures microphone audio and writes a WAV.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NanoPitch WASM model runs pitch/VAD locally.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JavaScript computes tempo and dynamics from the same audio.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US">
                <a:solidFill>
                  <a:srgbClr val="242424"/>
                </a:solidFill>
                <a:latin typeface="Aptos" panose="020B0004020202020204" pitchFamily="34" charset="0"/>
              </a:rPr>
              <a:t>The local technique API returns the fourth axis after recording.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8E6342-9626-6D30-74E8-6054731B3248}"/>
              </a:ext>
            </a:extLst>
          </p:cNvPr>
          <p:cNvSpPr txBox="1"/>
          <p:nvPr/>
        </p:nvSpPr>
        <p:spPr>
          <a:xfrm>
            <a:off x="7452360" y="4736592"/>
            <a:ext cx="18288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 b="1">
                <a:solidFill>
                  <a:srgbClr val="242424"/>
                </a:solidFill>
                <a:latin typeface="Aptos" panose="020B0004020202020204" pitchFamily="34" charset="0"/>
              </a:rPr>
              <a:t>Local endpoints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A0606-7104-BDDA-7370-C60ECF2083CB}"/>
              </a:ext>
            </a:extLst>
          </p:cNvPr>
          <p:cNvSpPr txBox="1"/>
          <p:nvPr/>
        </p:nvSpPr>
        <p:spPr>
          <a:xfrm>
            <a:off x="7452360" y="5074920"/>
            <a:ext cx="425196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nl-NL" sz="1200">
                <a:solidFill>
                  <a:srgbClr val="5F5F5F"/>
                </a:solidFill>
                <a:latin typeface="Aptos" panose="020B0004020202020204" pitchFamily="34" charset="0"/>
              </a:rPr>
              <a:t>UI: http://127.0.0.1:8080/coach/web/</a:t>
            </a:r>
          </a:p>
          <a:p>
            <a:r>
              <a:rPr lang="nl-NL" sz="1200">
                <a:solidFill>
                  <a:srgbClr val="5F5F5F"/>
                </a:solidFill>
                <a:latin typeface="Aptos" panose="020B0004020202020204" pitchFamily="34" charset="0"/>
              </a:rPr>
              <a:t>API: http://127.0.0.1:8765/health</a:t>
            </a:r>
            <a:endParaRPr lang="en-US" sz="1200">
              <a:solidFill>
                <a:srgbClr val="5F5F5F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AC0BAA-6759-A867-DBB6-FACFE188AC8A}"/>
              </a:ext>
            </a:extLst>
          </p:cNvPr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A75C6F-07B2-0686-AEC6-1AB7A317FB2A}"/>
              </a:ext>
            </a:extLst>
          </p:cNvPr>
          <p:cNvSpPr txBox="1"/>
          <p:nvPr/>
        </p:nvSpPr>
        <p:spPr>
          <a:xfrm>
            <a:off x="502920" y="6547104"/>
            <a:ext cx="1115568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F5F5F"/>
                </a:solidFill>
                <a:latin typeface="Aptos" panose="020B0004020202020204" pitchFamily="34" charset="0"/>
              </a:rPr>
              <a:t>Presenter cue: Transition here: now the audience knows what should light up when you press record.</a:t>
            </a:r>
          </a:p>
        </p:txBody>
      </p:sp>
    </p:spTree>
    <p:extLst>
      <p:ext uri="{BB962C8B-B14F-4D97-AF65-F5344CB8AC3E}">
        <p14:creationId xmlns:p14="http://schemas.microsoft.com/office/powerpoint/2010/main" val="3286444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BE18F7-0F91-4101-803B-D7DDC313A3E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F87D4C-1C14-EE04-FB2F-C0BBF9D538BA}"/>
              </a:ext>
            </a:extLst>
          </p:cNvPr>
          <p:cNvSpPr/>
          <p:nvPr/>
        </p:nvSpPr>
        <p:spPr>
          <a:xfrm>
            <a:off x="502920" y="310896"/>
            <a:ext cx="1600200" cy="310896"/>
          </a:xfrm>
          <a:prstGeom prst="roundRect">
            <a:avLst/>
          </a:prstGeom>
          <a:solidFill>
            <a:srgbClr val="71B3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</a:rPr>
              <a:t>DEMO HANDOFF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E756B-5A79-DB79-9E99-BDC0B251B5C1}"/>
              </a:ext>
            </a:extLst>
          </p:cNvPr>
          <p:cNvSpPr txBox="1"/>
          <p:nvPr/>
        </p:nvSpPr>
        <p:spPr>
          <a:xfrm>
            <a:off x="594360" y="749808"/>
            <a:ext cx="859536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3400" b="1">
                <a:solidFill>
                  <a:srgbClr val="242424"/>
                </a:solidFill>
                <a:latin typeface="Aptos" panose="020B0004020202020204" pitchFamily="34" charset="0"/>
              </a:rPr>
              <a:t>What we will show live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909C82-07E9-2670-8595-E91B8E23B4F8}"/>
              </a:ext>
            </a:extLst>
          </p:cNvPr>
          <p:cNvSpPr txBox="1"/>
          <p:nvPr/>
        </p:nvSpPr>
        <p:spPr>
          <a:xfrm>
            <a:off x="868680" y="1463040"/>
            <a:ext cx="5166360" cy="256993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Record a short sung phrase in Edge.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Watch pitch, tempo, and volume populate from browser analysis.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Wait for the technique model to grade the take after stop.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n-US" sz="2100">
                <a:solidFill>
                  <a:srgbClr val="242424"/>
                </a:solidFill>
                <a:latin typeface="Aptos" panose="020B0004020202020204" pitchFamily="34" charset="0"/>
              </a:rPr>
              <a:t>Use the four-axis report to explain what happened in the performance.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D6EB128-0B85-C123-104C-C3406625442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143000"/>
            <a:ext cx="4937760" cy="27889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57EFB33-8D33-BBE6-C924-AFB55487DB6A}"/>
              </a:ext>
            </a:extLst>
          </p:cNvPr>
          <p:cNvSpPr/>
          <p:nvPr/>
        </p:nvSpPr>
        <p:spPr>
          <a:xfrm>
            <a:off x="6400800" y="4389120"/>
            <a:ext cx="4937760" cy="786384"/>
          </a:xfrm>
          <a:prstGeom prst="rect">
            <a:avLst/>
          </a:prstGeom>
          <a:solidFill>
            <a:srgbClr val="F1EFFF"/>
          </a:solidFill>
          <a:ln>
            <a:solidFill>
              <a:srgbClr val="DBC9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21D78-6FD3-34E3-B586-C00FAB08B0A6}"/>
              </a:ext>
            </a:extLst>
          </p:cNvPr>
          <p:cNvSpPr txBox="1"/>
          <p:nvPr/>
        </p:nvSpPr>
        <p:spPr>
          <a:xfrm>
            <a:off x="6629400" y="4590288"/>
            <a:ext cx="448056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 b="1">
                <a:solidFill>
                  <a:srgbClr val="242424"/>
                </a:solidFill>
                <a:latin typeface="Aptos" panose="020B0004020202020204" pitchFamily="34" charset="0"/>
              </a:rPr>
              <a:t>Honest scope: technique works end-to-end, but production grading needs more app-recording labels across singers and styles.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EB06EE-B73A-7F0D-0C7D-66BE6EE1A2FB}"/>
              </a:ext>
            </a:extLst>
          </p:cNvPr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FAFA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A713A5-9003-E5B4-9E0C-C8CA220F7A71}"/>
              </a:ext>
            </a:extLst>
          </p:cNvPr>
          <p:cNvSpPr txBox="1"/>
          <p:nvPr/>
        </p:nvSpPr>
        <p:spPr>
          <a:xfrm>
            <a:off x="502920" y="6547104"/>
            <a:ext cx="1115568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000">
                <a:solidFill>
                  <a:srgbClr val="5F5F5F"/>
                </a:solidFill>
                <a:latin typeface="Aptos" panose="020B0004020202020204" pitchFamily="34" charset="0"/>
              </a:rPr>
              <a:t>Presenter cue: End with confidence and humility. Then switch to Edge and record.</a:t>
            </a:r>
          </a:p>
        </p:txBody>
      </p:sp>
    </p:spTree>
    <p:extLst>
      <p:ext uri="{BB962C8B-B14F-4D97-AF65-F5344CB8AC3E}">
        <p14:creationId xmlns:p14="http://schemas.microsoft.com/office/powerpoint/2010/main" val="13943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425</Words>
  <Application>Microsoft Office PowerPoint</Application>
  <PresentationFormat>Custom</PresentationFormat>
  <Paragraphs>46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Chase,Brady</dc:creator>
  <cp:lastModifiedBy>Chase,Brady</cp:lastModifiedBy>
  <cp:revision>1</cp:revision>
  <dcterms:created xsi:type="dcterms:W3CDTF">2026-06-02T01:45:12Z</dcterms:created>
  <dcterms:modified xsi:type="dcterms:W3CDTF">2026-06-02T01:45:12Z</dcterms:modified>
</cp:coreProperties>
</file>