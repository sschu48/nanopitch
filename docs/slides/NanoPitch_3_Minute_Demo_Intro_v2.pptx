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3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2A6B-262D-706A-CFB2-6628D6A1C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4966-F3C6-275D-7625-F3F08B068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16E49-4BB7-C0B2-D026-AB1814F0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2E571-FD3B-DEF1-DAF2-FB3BA25E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6D8A6-E425-9D13-E009-27BCC565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85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315D-9906-A892-BE88-28B3FD64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EA8B1-C85A-1EEE-F755-8081221A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1261-69ED-4778-A049-E23B343F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918F2-D8A6-963B-B034-E609E98E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790F5-5C8E-2581-3F56-19B0709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9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5EFE-2943-1DB7-735B-F2C8433A1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D2D90-800F-F09C-B20A-36EE1CFEF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7864B-6F33-18D6-06F2-99CC9004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5D45-EF22-068E-A762-B9F410A1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A9EE2-203B-21F3-CE2A-FFAE3AE6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2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C991-43E0-A578-0FCE-A15124AD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C09FE-9369-FFE6-3192-3D32A8A93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B9BA6-1F64-E071-6E12-BC40CBE26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5E4BE-3C75-0E6A-CC09-3170A895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23C1B-C36B-8C0A-CF5C-CFC7A767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EC4E9-73F7-CA93-8C72-EC544FF2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0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E51A-0908-F9F1-EB72-573AFEE3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3C177-C30A-5388-7716-82C120D60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FD98C-17AF-EE95-CBF2-5E8185174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225A2-15F0-33D3-D9CD-DF8CA7640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1FA86-5EBA-8A84-41A2-7B251891C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882DC-3345-8F5A-94CC-B5CDAD1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8B191-E23D-E702-31CA-6F670EDF2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23BF1-27C8-E437-ED4A-727A697C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60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01D1-1580-4C29-40AB-A0068B5F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BA1B1-865D-EE8B-E5FD-A6DB48B6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0A767-BCC9-B858-FB75-6DCFF97A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E7E6D-CE19-2D9B-58BC-F3416961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97E9F-2FF0-A5E7-E9D5-0348AC5C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EF834-CB55-176F-EB5A-CEEEA18B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4D1CD-9455-4684-D61B-4CDC1796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9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CB5C-DC54-AC16-8D38-A4AE110EB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413CA-6829-9392-D02E-5764358DA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CA637-3800-D54B-C253-2AB3CA662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94A49-D23D-6544-13E3-8438DFE9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C697A-F9A0-D1F4-9746-F36E076F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F776B-4B14-F170-752C-C9AA88B5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5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764C-A4A8-230C-2EE8-57E27E82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AC5295-7F18-F64E-A10E-70BC24658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B8BCD-90EF-743E-1547-35F3023A7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44A34-8A89-112B-B0F1-796B4958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87C26-6996-5E51-DFE4-AC9EAA54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DC962-DCF2-D2CB-F7C8-38F6FCD0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8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4853-66D6-9DAA-E766-0DA05F0E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B99C0-0C4A-1DCB-0345-50E16A3E3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108C9-8F88-8F19-5E21-01FDAE96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53E09-00FE-5B43-5616-9F496F87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328F5-C531-97DE-B39A-C7CD7064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5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604BC6-7524-06AD-59AC-F0C622532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EEC67-6643-5259-90B0-BF4076BAF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DE428-3EC7-E5EA-4F42-1EC0D4940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03D52-EF0A-AA71-2140-AD0B4E2D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860D3-9FD5-590E-D663-48842332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1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8F1E6-8467-BD3B-2795-12F35573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A2259-A450-2946-F8E6-5339B6FA6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35972-B93B-C653-A4DB-21962D595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0F322-D195-445D-878B-AB06CCC0799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B5C8-546C-2284-B515-A82E86DBF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6598-214D-250A-811C-77909A7F5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ED99A-0A37-4FB2-A081-40611A4F5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2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1D6FC-4709-F8AC-8A69-090F54E1D58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930CB5-0734-349B-05FC-8D8459ED76D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A2E334-33D0-E10C-29F1-A3F831312833}"/>
              </a:ext>
            </a:extLst>
          </p:cNvPr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B5145C-F8B2-B797-0310-B56BD4CA9E84}"/>
              </a:ext>
            </a:extLst>
          </p:cNvPr>
          <p:cNvSpPr/>
          <p:nvPr/>
        </p:nvSpPr>
        <p:spPr>
          <a:xfrm>
            <a:off x="621792" y="566928"/>
            <a:ext cx="1115568" cy="310896"/>
          </a:xfrm>
          <a:prstGeom prst="round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7F853-80E2-D30A-F62E-A9FC172AFCD3}"/>
              </a:ext>
            </a:extLst>
          </p:cNvPr>
          <p:cNvSpPr txBox="1"/>
          <p:nvPr/>
        </p:nvSpPr>
        <p:spPr>
          <a:xfrm>
            <a:off x="621792" y="987552"/>
            <a:ext cx="621792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ptos" panose="020B0004020202020204" pitchFamily="34" charset="0"/>
              </a:rPr>
              <a:t>NanoPitch Coach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1728A-12D6-CEBE-5F7A-B4EF5698E8D3}"/>
              </a:ext>
            </a:extLst>
          </p:cNvPr>
          <p:cNvSpPr txBox="1"/>
          <p:nvPr/>
        </p:nvSpPr>
        <p:spPr>
          <a:xfrm>
            <a:off x="658368" y="1737360"/>
            <a:ext cx="557784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>
                <a:solidFill>
                  <a:srgbClr val="D4D4D4"/>
                </a:solidFill>
                <a:latin typeface="Aptos" panose="020B0004020202020204" pitchFamily="34" charset="0"/>
              </a:rPr>
              <a:t>One browser recording becomes a four-axis singing report.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C5DAF8-88C6-FC33-0090-72030622E4EA}"/>
              </a:ext>
            </a:extLst>
          </p:cNvPr>
          <p:cNvSpPr/>
          <p:nvPr/>
        </p:nvSpPr>
        <p:spPr>
          <a:xfrm>
            <a:off x="658368" y="2487168"/>
            <a:ext cx="5010912" cy="2176272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BCD93-59B5-733D-A33F-251DAB450AA5}"/>
              </a:ext>
            </a:extLst>
          </p:cNvPr>
          <p:cNvSpPr txBox="1"/>
          <p:nvPr/>
        </p:nvSpPr>
        <p:spPr>
          <a:xfrm>
            <a:off x="941832" y="2761488"/>
            <a:ext cx="4370832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Pitch  |  Tempo  |  Volume  |  Technique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8D8BB9-C4F7-BB85-0302-FE965988A0A0}"/>
              </a:ext>
            </a:extLst>
          </p:cNvPr>
          <p:cNvCxnSpPr/>
          <p:nvPr/>
        </p:nvCxnSpPr>
        <p:spPr>
          <a:xfrm>
            <a:off x="1078992" y="3310128"/>
            <a:ext cx="4059936" cy="0"/>
          </a:xfrm>
          <a:prstGeom prst="line">
            <a:avLst/>
          </a:prstGeom>
          <a:ln w="25400">
            <a:solidFill>
              <a:srgbClr val="D08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D86575-ABCC-DD4E-53E4-90906F10527C}"/>
              </a:ext>
            </a:extLst>
          </p:cNvPr>
          <p:cNvSpPr txBox="1"/>
          <p:nvPr/>
        </p:nvSpPr>
        <p:spPr>
          <a:xfrm>
            <a:off x="987552" y="3639312"/>
            <a:ext cx="4315968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000">
                <a:solidFill>
                  <a:srgbClr val="D4D4D4"/>
                </a:solidFill>
                <a:latin typeface="Aptos" panose="020B0004020202020204" pitchFamily="34" charset="0"/>
              </a:rPr>
              <a:t>What the singer just did, translated into signals they can inspect.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4319E5E-ACA5-5DCF-8289-7041CE5798F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6520" y="950976"/>
            <a:ext cx="4956048" cy="278892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E014EF-1CEE-FAB4-FC85-321E65992441}"/>
              </a:ext>
            </a:extLst>
          </p:cNvPr>
          <p:cNvSpPr/>
          <p:nvPr/>
        </p:nvSpPr>
        <p:spPr>
          <a:xfrm>
            <a:off x="6446520" y="4343400"/>
            <a:ext cx="1417320" cy="960120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13C9B-4389-0E44-4F2A-4880DF04A58D}"/>
              </a:ext>
            </a:extLst>
          </p:cNvPr>
          <p:cNvSpPr txBox="1"/>
          <p:nvPr/>
        </p:nvSpPr>
        <p:spPr>
          <a:xfrm>
            <a:off x="6647688" y="4507992"/>
            <a:ext cx="1014984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3 min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D6BA26-EC86-CEE8-10E5-3F03EC92D229}"/>
              </a:ext>
            </a:extLst>
          </p:cNvPr>
          <p:cNvSpPr txBox="1"/>
          <p:nvPr/>
        </p:nvSpPr>
        <p:spPr>
          <a:xfrm>
            <a:off x="6647688" y="4873752"/>
            <a:ext cx="1014984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B7B7B7"/>
                </a:solidFill>
                <a:latin typeface="Aptos" panose="020B0004020202020204" pitchFamily="34" charset="0"/>
              </a:rPr>
              <a:t>setup before demo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811E2E-202C-4382-BA14-2DE05744C754}"/>
              </a:ext>
            </a:extLst>
          </p:cNvPr>
          <p:cNvCxnSpPr/>
          <p:nvPr/>
        </p:nvCxnSpPr>
        <p:spPr>
          <a:xfrm>
            <a:off x="6647688" y="5166360"/>
            <a:ext cx="1014984" cy="0"/>
          </a:xfrm>
          <a:prstGeom prst="line">
            <a:avLst/>
          </a:prstGeom>
          <a:ln w="30480">
            <a:solidFill>
              <a:srgbClr val="71B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2B7FB7-0346-4779-F149-EDBEEC0B0560}"/>
              </a:ext>
            </a:extLst>
          </p:cNvPr>
          <p:cNvSpPr/>
          <p:nvPr/>
        </p:nvSpPr>
        <p:spPr>
          <a:xfrm>
            <a:off x="8092440" y="4343400"/>
            <a:ext cx="1417320" cy="960120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E9A04B-FA9C-7592-9732-F6EF585EDA06}"/>
              </a:ext>
            </a:extLst>
          </p:cNvPr>
          <p:cNvSpPr txBox="1"/>
          <p:nvPr/>
        </p:nvSpPr>
        <p:spPr>
          <a:xfrm>
            <a:off x="8293608" y="4507992"/>
            <a:ext cx="1014984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1 WAV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BBE9E5-8EF8-A00E-0C88-1494D0E59093}"/>
              </a:ext>
            </a:extLst>
          </p:cNvPr>
          <p:cNvSpPr txBox="1"/>
          <p:nvPr/>
        </p:nvSpPr>
        <p:spPr>
          <a:xfrm>
            <a:off x="8293608" y="4873752"/>
            <a:ext cx="1014984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B7B7B7"/>
                </a:solidFill>
                <a:latin typeface="Aptos" panose="020B0004020202020204" pitchFamily="34" charset="0"/>
              </a:rPr>
              <a:t>take source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35E733-2BE4-05BF-6F95-2ABB1FA78225}"/>
              </a:ext>
            </a:extLst>
          </p:cNvPr>
          <p:cNvCxnSpPr/>
          <p:nvPr/>
        </p:nvCxnSpPr>
        <p:spPr>
          <a:xfrm>
            <a:off x="8293608" y="5166360"/>
            <a:ext cx="1014984" cy="0"/>
          </a:xfrm>
          <a:prstGeom prst="line">
            <a:avLst/>
          </a:prstGeom>
          <a:ln w="30480">
            <a:solidFill>
              <a:srgbClr val="D08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16F04D-CBDD-D477-D06A-9CD43F2E3C80}"/>
              </a:ext>
            </a:extLst>
          </p:cNvPr>
          <p:cNvSpPr/>
          <p:nvPr/>
        </p:nvSpPr>
        <p:spPr>
          <a:xfrm>
            <a:off x="9738360" y="4343400"/>
            <a:ext cx="1417320" cy="960120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98D4AB-6040-7505-2153-675305FF33D4}"/>
              </a:ext>
            </a:extLst>
          </p:cNvPr>
          <p:cNvSpPr txBox="1"/>
          <p:nvPr/>
        </p:nvSpPr>
        <p:spPr>
          <a:xfrm>
            <a:off x="9939528" y="4507992"/>
            <a:ext cx="1014984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A47FC-40AA-F616-D0A9-40EA2FFB09B8}"/>
              </a:ext>
            </a:extLst>
          </p:cNvPr>
          <p:cNvSpPr txBox="1"/>
          <p:nvPr/>
        </p:nvSpPr>
        <p:spPr>
          <a:xfrm>
            <a:off x="9939528" y="4873752"/>
            <a:ext cx="1014984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B7B7B7"/>
                </a:solidFill>
                <a:latin typeface="Aptos" panose="020B0004020202020204" pitchFamily="34" charset="0"/>
              </a:rPr>
              <a:t>feedback axes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4EA42C-E465-C19E-8333-E02CF9104FC4}"/>
              </a:ext>
            </a:extLst>
          </p:cNvPr>
          <p:cNvCxnSpPr/>
          <p:nvPr/>
        </p:nvCxnSpPr>
        <p:spPr>
          <a:xfrm>
            <a:off x="9939528" y="5166360"/>
            <a:ext cx="1014984" cy="0"/>
          </a:xfrm>
          <a:prstGeom prst="line">
            <a:avLst/>
          </a:prstGeom>
          <a:ln w="30480">
            <a:solidFill>
              <a:srgbClr val="30F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D95B82-2BAF-5828-0DA2-34B402D736C2}"/>
              </a:ext>
            </a:extLst>
          </p:cNvPr>
          <p:cNvSpPr txBox="1"/>
          <p:nvPr/>
        </p:nvSpPr>
        <p:spPr>
          <a:xfrm>
            <a:off x="566928" y="6510528"/>
            <a:ext cx="109728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AAAAA"/>
                </a:solidFill>
                <a:latin typeface="Aptos" panose="020B0004020202020204" pitchFamily="34" charset="0"/>
              </a:rPr>
              <a:t>Cue: This is the frame-setter. Keep it quick and then promise the audience they will see the app working live.</a:t>
            </a:r>
          </a:p>
        </p:txBody>
      </p:sp>
    </p:spTree>
    <p:extLst>
      <p:ext uri="{BB962C8B-B14F-4D97-AF65-F5344CB8AC3E}">
        <p14:creationId xmlns:p14="http://schemas.microsoft.com/office/powerpoint/2010/main" val="29086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544DEC-D765-5AB2-3183-6FE6A458DE4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4AF3DB-4DFE-2A7E-F38F-8EA5E2D5583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A6D019-F110-90A9-10B8-8AE25B27B753}"/>
              </a:ext>
            </a:extLst>
          </p:cNvPr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DCD331-7B2A-6B13-9D38-16CB5C99793D}"/>
              </a:ext>
            </a:extLst>
          </p:cNvPr>
          <p:cNvSpPr/>
          <p:nvPr/>
        </p:nvSpPr>
        <p:spPr>
          <a:xfrm>
            <a:off x="621792" y="566928"/>
            <a:ext cx="1024128" cy="310896"/>
          </a:xfrm>
          <a:prstGeom prst="roundRect">
            <a:avLst/>
          </a:prstGeom>
          <a:solidFill>
            <a:srgbClr val="D084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8604D-3E57-350E-1E81-3A92941904F0}"/>
              </a:ext>
            </a:extLst>
          </p:cNvPr>
          <p:cNvSpPr txBox="1"/>
          <p:nvPr/>
        </p:nvSpPr>
        <p:spPr>
          <a:xfrm>
            <a:off x="621792" y="932688"/>
            <a:ext cx="8412480" cy="58477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Aptos" panose="020B0004020202020204" pitchFamily="34" charset="0"/>
              </a:rPr>
              <a:t>Singing feedback is usually too vague.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7891F-2896-D5DB-D7C6-DD9C862E430A}"/>
              </a:ext>
            </a:extLst>
          </p:cNvPr>
          <p:cNvSpPr txBox="1"/>
          <p:nvPr/>
        </p:nvSpPr>
        <p:spPr>
          <a:xfrm>
            <a:off x="658368" y="1627632"/>
            <a:ext cx="7909560" cy="58477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900">
                <a:solidFill>
                  <a:srgbClr val="D4D4D4"/>
                </a:solidFill>
                <a:latin typeface="Aptos" panose="020B0004020202020204" pitchFamily="34" charset="0"/>
              </a:rPr>
              <a:t>A beginner knows something felt off, but not whether it was pitch stability, timing, breath/control, or technique.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7DFE86-25A0-B6E3-D5E8-C5A33B492124}"/>
              </a:ext>
            </a:extLst>
          </p:cNvPr>
          <p:cNvSpPr/>
          <p:nvPr/>
        </p:nvSpPr>
        <p:spPr>
          <a:xfrm>
            <a:off x="749808" y="2560320"/>
            <a:ext cx="3429000" cy="2286000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EA824C-E5BC-4D95-BFFF-55500C60E5D5}"/>
              </a:ext>
            </a:extLst>
          </p:cNvPr>
          <p:cNvSpPr txBox="1"/>
          <p:nvPr/>
        </p:nvSpPr>
        <p:spPr>
          <a:xfrm>
            <a:off x="1005840" y="2816352"/>
            <a:ext cx="146304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B7B7B7"/>
                </a:solidFill>
                <a:latin typeface="Aptos" panose="020B0004020202020204" pitchFamily="34" charset="0"/>
              </a:rPr>
              <a:t>Before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B4274-6894-C5A7-32BC-2BD4460F3040}"/>
              </a:ext>
            </a:extLst>
          </p:cNvPr>
          <p:cNvSpPr txBox="1"/>
          <p:nvPr/>
        </p:nvSpPr>
        <p:spPr>
          <a:xfrm>
            <a:off x="1005840" y="3328416"/>
            <a:ext cx="269748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Aptos" panose="020B0004020202020204" pitchFamily="34" charset="0"/>
              </a:rPr>
              <a:t>"That take was shaky."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187ECC-446F-390E-04DC-67CA75CE1FE8}"/>
              </a:ext>
            </a:extLst>
          </p:cNvPr>
          <p:cNvSpPr txBox="1"/>
          <p:nvPr/>
        </p:nvSpPr>
        <p:spPr>
          <a:xfrm>
            <a:off x="1024128" y="4096512"/>
            <a:ext cx="265176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B7B7B7"/>
                </a:solidFill>
                <a:latin typeface="Aptos" panose="020B0004020202020204" pitchFamily="34" charset="0"/>
              </a:rPr>
              <a:t>Hard to practice against.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B6985D-C661-C6EA-4F67-7D91918D6E08}"/>
              </a:ext>
            </a:extLst>
          </p:cNvPr>
          <p:cNvSpPr/>
          <p:nvPr/>
        </p:nvSpPr>
        <p:spPr>
          <a:xfrm>
            <a:off x="4526280" y="2560320"/>
            <a:ext cx="3429000" cy="2286000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6DA7A7-2218-AC0B-3434-A9792133EA50}"/>
              </a:ext>
            </a:extLst>
          </p:cNvPr>
          <p:cNvSpPr txBox="1"/>
          <p:nvPr/>
        </p:nvSpPr>
        <p:spPr>
          <a:xfrm>
            <a:off x="4782312" y="2816352"/>
            <a:ext cx="146304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B7B7B7"/>
                </a:solidFill>
                <a:latin typeface="Aptos" panose="020B0004020202020204" pitchFamily="34" charset="0"/>
              </a:rPr>
              <a:t>After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647EB-FDA4-1543-9FE7-6BA3AC0B4828}"/>
              </a:ext>
            </a:extLst>
          </p:cNvPr>
          <p:cNvSpPr txBox="1"/>
          <p:nvPr/>
        </p:nvSpPr>
        <p:spPr>
          <a:xfrm>
            <a:off x="4782312" y="3291840"/>
            <a:ext cx="269748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The report says what changed.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58E47E-A31B-07CE-7AA2-6CA01E593D18}"/>
              </a:ext>
            </a:extLst>
          </p:cNvPr>
          <p:cNvSpPr txBox="1"/>
          <p:nvPr/>
        </p:nvSpPr>
        <p:spPr>
          <a:xfrm>
            <a:off x="4800600" y="4151376"/>
            <a:ext cx="269748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B7B7B7"/>
                </a:solidFill>
                <a:latin typeface="Aptos" panose="020B0004020202020204" pitchFamily="34" charset="0"/>
              </a:rPr>
              <a:t>Easier to repeat, compare, and improve.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EE4BE0-8D52-5EF3-46B3-64AB708EEF99}"/>
              </a:ext>
            </a:extLst>
          </p:cNvPr>
          <p:cNvSpPr/>
          <p:nvPr/>
        </p:nvSpPr>
        <p:spPr>
          <a:xfrm>
            <a:off x="8275320" y="2560320"/>
            <a:ext cx="2267712" cy="2286000"/>
          </a:xfrm>
          <a:prstGeom prst="round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901E61-8386-0210-225B-818F40FEAC63}"/>
              </a:ext>
            </a:extLst>
          </p:cNvPr>
          <p:cNvSpPr txBox="1"/>
          <p:nvPr/>
        </p:nvSpPr>
        <p:spPr>
          <a:xfrm>
            <a:off x="8549640" y="2834640"/>
            <a:ext cx="169164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Demo promise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A84CA-D589-8830-7C29-4292F815CF51}"/>
              </a:ext>
            </a:extLst>
          </p:cNvPr>
          <p:cNvSpPr txBox="1"/>
          <p:nvPr/>
        </p:nvSpPr>
        <p:spPr>
          <a:xfrm>
            <a:off x="8577072" y="3364992"/>
            <a:ext cx="1627632" cy="146193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Same take.</a:t>
            </a:r>
          </a:p>
          <a:p>
            <a:pPr algn="ctr"/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Same WAV.</a:t>
            </a:r>
          </a:p>
          <a:p>
            <a:pPr algn="ctr"/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Four measurements.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7F4B52-37E4-7344-4BA4-D28CD5F8A132}"/>
              </a:ext>
            </a:extLst>
          </p:cNvPr>
          <p:cNvSpPr txBox="1"/>
          <p:nvPr/>
        </p:nvSpPr>
        <p:spPr>
          <a:xfrm>
            <a:off x="566928" y="6510528"/>
            <a:ext cx="109728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AAAAA"/>
                </a:solidFill>
                <a:latin typeface="Aptos" panose="020B0004020202020204" pitchFamily="34" charset="0"/>
              </a:rPr>
              <a:t>Cue: Say this is not replacing a vocal coach. It is making one recorded take easier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450135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CDB0B9-A1CB-DC00-5600-F8ECF82E034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B4557-9F36-E1F0-B8EC-FD73F323211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1F1986-D22B-0207-A2AB-7EED05948422}"/>
              </a:ext>
            </a:extLst>
          </p:cNvPr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810567-D546-8EB8-D0CE-97C6A627CBE2}"/>
              </a:ext>
            </a:extLst>
          </p:cNvPr>
          <p:cNvSpPr/>
          <p:nvPr/>
        </p:nvSpPr>
        <p:spPr>
          <a:xfrm>
            <a:off x="621792" y="566928"/>
            <a:ext cx="914400" cy="310896"/>
          </a:xfrm>
          <a:prstGeom prst="roundRect">
            <a:avLst/>
          </a:prstGeom>
          <a:solidFill>
            <a:srgbClr val="30FC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0CCF0-9D73-35C1-5F94-4C91AE65F1F7}"/>
              </a:ext>
            </a:extLst>
          </p:cNvPr>
          <p:cNvSpPr txBox="1"/>
          <p:nvPr/>
        </p:nvSpPr>
        <p:spPr>
          <a:xfrm>
            <a:off x="621792" y="932688"/>
            <a:ext cx="9692640" cy="10464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The report reads like a dashboard, not a black box.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35EE9C6-289A-6790-359B-C1FF9E30719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72768"/>
            <a:ext cx="5029200" cy="283464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702DB9-754D-2FF2-9BDE-F515ECBB3E76}"/>
              </a:ext>
            </a:extLst>
          </p:cNvPr>
          <p:cNvSpPr/>
          <p:nvPr/>
        </p:nvSpPr>
        <p:spPr>
          <a:xfrm>
            <a:off x="6172200" y="1508760"/>
            <a:ext cx="5166360" cy="3200400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D78E8-C4D6-F454-EF33-AE1B31F5E272}"/>
              </a:ext>
            </a:extLst>
          </p:cNvPr>
          <p:cNvSpPr txBox="1"/>
          <p:nvPr/>
        </p:nvSpPr>
        <p:spPr>
          <a:xfrm>
            <a:off x="6492240" y="1810512"/>
            <a:ext cx="420624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What each axis contributes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D75C9-3697-8266-3D69-1BB713DA4E52}"/>
              </a:ext>
            </a:extLst>
          </p:cNvPr>
          <p:cNvCxnSpPr/>
          <p:nvPr/>
        </p:nvCxnSpPr>
        <p:spPr>
          <a:xfrm>
            <a:off x="6492240" y="2240280"/>
            <a:ext cx="4389120" cy="0"/>
          </a:xfrm>
          <a:prstGeom prst="line">
            <a:avLst/>
          </a:prstGeom>
          <a:ln w="25400">
            <a:solidFill>
              <a:srgbClr val="D08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26D42C-93A9-E53C-4E88-731E6216215E}"/>
              </a:ext>
            </a:extLst>
          </p:cNvPr>
          <p:cNvSpPr txBox="1"/>
          <p:nvPr/>
        </p:nvSpPr>
        <p:spPr>
          <a:xfrm>
            <a:off x="6510528" y="2542032"/>
            <a:ext cx="4434840" cy="13080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D4D4D4"/>
                </a:solidFill>
                <a:latin typeface="Aptos" panose="020B0004020202020204" pitchFamily="34" charset="0"/>
              </a:rPr>
              <a:t>Pitch: voiced stability and f0 shape</a:t>
            </a:r>
          </a:p>
          <a:p>
            <a:r>
              <a:rPr lang="en-US" sz="1700">
                <a:solidFill>
                  <a:srgbClr val="D4D4D4"/>
                </a:solidFill>
                <a:latin typeface="Aptos" panose="020B0004020202020204" pitchFamily="34" charset="0"/>
              </a:rPr>
              <a:t>Tempo: onset pattern and BPM estimate</a:t>
            </a:r>
          </a:p>
          <a:p>
            <a:r>
              <a:rPr lang="en-US" sz="1700">
                <a:solidFill>
                  <a:srgbClr val="D4D4D4"/>
                </a:solidFill>
                <a:latin typeface="Aptos" panose="020B0004020202020204" pitchFamily="34" charset="0"/>
              </a:rPr>
              <a:t>Volume: loudness contour and dynamic range</a:t>
            </a:r>
          </a:p>
          <a:p>
            <a:r>
              <a:rPr lang="en-US" sz="1700">
                <a:solidFill>
                  <a:srgbClr val="D4D4D4"/>
                </a:solidFill>
                <a:latin typeface="Aptos" panose="020B0004020202020204" pitchFamily="34" charset="0"/>
              </a:rPr>
              <a:t>Technique: family confidence and timeline activity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D64A60-B8EC-B80A-ECA3-10A6AECAB199}"/>
              </a:ext>
            </a:extLst>
          </p:cNvPr>
          <p:cNvSpPr/>
          <p:nvPr/>
        </p:nvSpPr>
        <p:spPr>
          <a:xfrm>
            <a:off x="6510528" y="4956048"/>
            <a:ext cx="1444752" cy="310896"/>
          </a:xfrm>
          <a:prstGeom prst="round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BROWSER-SIDE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20AF15-D4C5-7A6E-B50A-F283B12829AD}"/>
              </a:ext>
            </a:extLst>
          </p:cNvPr>
          <p:cNvSpPr/>
          <p:nvPr/>
        </p:nvSpPr>
        <p:spPr>
          <a:xfrm>
            <a:off x="8183880" y="4956048"/>
            <a:ext cx="1755648" cy="310896"/>
          </a:xfrm>
          <a:prstGeom prst="roundRect">
            <a:avLst/>
          </a:prstGeom>
          <a:solidFill>
            <a:srgbClr val="D084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LOCAL PYTORCH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73FD1-D52F-F76A-CB3E-2FC43A7E17BD}"/>
              </a:ext>
            </a:extLst>
          </p:cNvPr>
          <p:cNvSpPr txBox="1"/>
          <p:nvPr/>
        </p:nvSpPr>
        <p:spPr>
          <a:xfrm>
            <a:off x="566928" y="6510528"/>
            <a:ext cx="109728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AAAAA"/>
                </a:solidFill>
                <a:latin typeface="Aptos" panose="020B0004020202020204" pitchFamily="34" charset="0"/>
              </a:rPr>
              <a:t>Cue: This slide prepares the audience to interpret the cards that appear after you stop recording.</a:t>
            </a:r>
          </a:p>
        </p:txBody>
      </p:sp>
    </p:spTree>
    <p:extLst>
      <p:ext uri="{BB962C8B-B14F-4D97-AF65-F5344CB8AC3E}">
        <p14:creationId xmlns:p14="http://schemas.microsoft.com/office/powerpoint/2010/main" val="80266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EC40FE-6A25-2F54-41E9-1B487BA8AF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D975CC-23DD-22F6-217C-8BB768D1DC3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BCD5D-D992-9638-982B-80DD63F6F4EB}"/>
              </a:ext>
            </a:extLst>
          </p:cNvPr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ED7BFF-BC4D-4592-28E5-472B24135863}"/>
              </a:ext>
            </a:extLst>
          </p:cNvPr>
          <p:cNvSpPr/>
          <p:nvPr/>
        </p:nvSpPr>
        <p:spPr>
          <a:xfrm>
            <a:off x="621792" y="566928"/>
            <a:ext cx="713232" cy="310896"/>
          </a:xfrm>
          <a:prstGeom prst="round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558FC-B459-8CFD-4A5A-C5F016C52E34}"/>
              </a:ext>
            </a:extLst>
          </p:cNvPr>
          <p:cNvSpPr txBox="1"/>
          <p:nvPr/>
        </p:nvSpPr>
        <p:spPr>
          <a:xfrm>
            <a:off x="621792" y="932688"/>
            <a:ext cx="804672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What happens when we press record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97771B-232E-1E0F-E89A-323D31D8EB9B}"/>
              </a:ext>
            </a:extLst>
          </p:cNvPr>
          <p:cNvSpPr/>
          <p:nvPr/>
        </p:nvSpPr>
        <p:spPr>
          <a:xfrm>
            <a:off x="786384" y="1920240"/>
            <a:ext cx="2331720" cy="2395728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1971D-D12A-E1C7-58A0-CE48BEC2A520}"/>
              </a:ext>
            </a:extLst>
          </p:cNvPr>
          <p:cNvSpPr txBox="1"/>
          <p:nvPr/>
        </p:nvSpPr>
        <p:spPr>
          <a:xfrm>
            <a:off x="1005840" y="2148840"/>
            <a:ext cx="384048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D0845C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E2896-E7D6-AF13-5EDB-2824EB3082A6}"/>
              </a:ext>
            </a:extLst>
          </p:cNvPr>
          <p:cNvSpPr txBox="1"/>
          <p:nvPr/>
        </p:nvSpPr>
        <p:spPr>
          <a:xfrm>
            <a:off x="1499616" y="2176272"/>
            <a:ext cx="141732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Record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6040B-6E1F-4ABC-1DA0-447F3AB57DE6}"/>
              </a:ext>
            </a:extLst>
          </p:cNvPr>
          <p:cNvSpPr txBox="1"/>
          <p:nvPr/>
        </p:nvSpPr>
        <p:spPr>
          <a:xfrm>
            <a:off x="1042416" y="2907792"/>
            <a:ext cx="1810512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D4D4D4"/>
                </a:solidFill>
                <a:latin typeface="Aptos" panose="020B0004020202020204" pitchFamily="34" charset="0"/>
              </a:rPr>
              <a:t>Mic audio becomes one short WAV.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660D24-286F-F603-EA5A-2D82CC8DE759}"/>
              </a:ext>
            </a:extLst>
          </p:cNvPr>
          <p:cNvCxnSpPr/>
          <p:nvPr/>
        </p:nvCxnSpPr>
        <p:spPr>
          <a:xfrm>
            <a:off x="3236976" y="3127248"/>
            <a:ext cx="457200" cy="0"/>
          </a:xfrm>
          <a:prstGeom prst="line">
            <a:avLst/>
          </a:prstGeom>
          <a:ln w="25400">
            <a:solidFill>
              <a:srgbClr val="D08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B92FD9-20D8-29BE-B844-6F06D03AE723}"/>
              </a:ext>
            </a:extLst>
          </p:cNvPr>
          <p:cNvSpPr/>
          <p:nvPr/>
        </p:nvSpPr>
        <p:spPr>
          <a:xfrm>
            <a:off x="3602736" y="1920240"/>
            <a:ext cx="2331720" cy="2395728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EA451-78A9-0CFE-3E99-5A876AFAC7FB}"/>
              </a:ext>
            </a:extLst>
          </p:cNvPr>
          <p:cNvSpPr txBox="1"/>
          <p:nvPr/>
        </p:nvSpPr>
        <p:spPr>
          <a:xfrm>
            <a:off x="3822192" y="2148840"/>
            <a:ext cx="384048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D0845C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F03BF-BBCC-3600-45A8-D0E980E1F8CC}"/>
              </a:ext>
            </a:extLst>
          </p:cNvPr>
          <p:cNvSpPr txBox="1"/>
          <p:nvPr/>
        </p:nvSpPr>
        <p:spPr>
          <a:xfrm>
            <a:off x="4315968" y="2176272"/>
            <a:ext cx="141732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Analyze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3C7B7-BD56-2776-45E9-61E02A310C3B}"/>
              </a:ext>
            </a:extLst>
          </p:cNvPr>
          <p:cNvSpPr txBox="1"/>
          <p:nvPr/>
        </p:nvSpPr>
        <p:spPr>
          <a:xfrm>
            <a:off x="3858768" y="2907792"/>
            <a:ext cx="1810512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D4D4D4"/>
                </a:solidFill>
                <a:latin typeface="Aptos" panose="020B0004020202020204" pitchFamily="34" charset="0"/>
              </a:rPr>
              <a:t>NanoPitch WASM tracks voice and pitch.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8DC423E-E1C1-4595-5556-FD829E69F1B5}"/>
              </a:ext>
            </a:extLst>
          </p:cNvPr>
          <p:cNvCxnSpPr/>
          <p:nvPr/>
        </p:nvCxnSpPr>
        <p:spPr>
          <a:xfrm>
            <a:off x="6053328" y="3127248"/>
            <a:ext cx="457200" cy="0"/>
          </a:xfrm>
          <a:prstGeom prst="line">
            <a:avLst/>
          </a:prstGeom>
          <a:ln w="25400">
            <a:solidFill>
              <a:srgbClr val="D08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6870B0-DE1F-6F36-F3E2-6CE56EC27C4D}"/>
              </a:ext>
            </a:extLst>
          </p:cNvPr>
          <p:cNvSpPr/>
          <p:nvPr/>
        </p:nvSpPr>
        <p:spPr>
          <a:xfrm>
            <a:off x="6419088" y="1920240"/>
            <a:ext cx="2331720" cy="2395728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624952-D151-EC66-C42C-714764DFEC8E}"/>
              </a:ext>
            </a:extLst>
          </p:cNvPr>
          <p:cNvSpPr txBox="1"/>
          <p:nvPr/>
        </p:nvSpPr>
        <p:spPr>
          <a:xfrm>
            <a:off x="6638544" y="2148840"/>
            <a:ext cx="384048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D0845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FE5907-BFDD-74FA-424B-863C59ED90C2}"/>
              </a:ext>
            </a:extLst>
          </p:cNvPr>
          <p:cNvSpPr txBox="1"/>
          <p:nvPr/>
        </p:nvSpPr>
        <p:spPr>
          <a:xfrm>
            <a:off x="7132320" y="2176272"/>
            <a:ext cx="141732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Summarize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4EB123-C922-9832-36A6-53D848B97CAD}"/>
              </a:ext>
            </a:extLst>
          </p:cNvPr>
          <p:cNvSpPr txBox="1"/>
          <p:nvPr/>
        </p:nvSpPr>
        <p:spPr>
          <a:xfrm>
            <a:off x="6675120" y="2907792"/>
            <a:ext cx="1810512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D4D4D4"/>
                </a:solidFill>
                <a:latin typeface="Aptos" panose="020B0004020202020204" pitchFamily="34" charset="0"/>
              </a:rPr>
              <a:t>JS computes tempo and dynamics.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45F49-97A3-E7BE-C8F8-F8DF78CD2829}"/>
              </a:ext>
            </a:extLst>
          </p:cNvPr>
          <p:cNvCxnSpPr/>
          <p:nvPr/>
        </p:nvCxnSpPr>
        <p:spPr>
          <a:xfrm>
            <a:off x="8869680" y="3127248"/>
            <a:ext cx="457200" cy="0"/>
          </a:xfrm>
          <a:prstGeom prst="line">
            <a:avLst/>
          </a:prstGeom>
          <a:ln w="25400">
            <a:solidFill>
              <a:srgbClr val="D08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4F4F8C4-C4A5-D885-C4E6-E1A9C450D5EB}"/>
              </a:ext>
            </a:extLst>
          </p:cNvPr>
          <p:cNvSpPr/>
          <p:nvPr/>
        </p:nvSpPr>
        <p:spPr>
          <a:xfrm>
            <a:off x="9235440" y="1920240"/>
            <a:ext cx="2331721" cy="2395728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A3E177-490B-2770-F8AA-8BC8E13BAA1A}"/>
              </a:ext>
            </a:extLst>
          </p:cNvPr>
          <p:cNvSpPr txBox="1"/>
          <p:nvPr/>
        </p:nvSpPr>
        <p:spPr>
          <a:xfrm>
            <a:off x="9454896" y="2148840"/>
            <a:ext cx="384048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D0845C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BD495F-7191-E340-FDB3-D5DBF81EACA6}"/>
              </a:ext>
            </a:extLst>
          </p:cNvPr>
          <p:cNvSpPr txBox="1"/>
          <p:nvPr/>
        </p:nvSpPr>
        <p:spPr>
          <a:xfrm>
            <a:off x="9948672" y="2176272"/>
            <a:ext cx="141732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Grade technique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4FA810-4DAD-5E53-C3C6-F983DD3F8EC6}"/>
              </a:ext>
            </a:extLst>
          </p:cNvPr>
          <p:cNvSpPr txBox="1"/>
          <p:nvPr/>
        </p:nvSpPr>
        <p:spPr>
          <a:xfrm>
            <a:off x="9491472" y="2907792"/>
            <a:ext cx="1810512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D4D4D4"/>
                </a:solidFill>
                <a:latin typeface="Aptos" panose="020B0004020202020204" pitchFamily="34" charset="0"/>
              </a:rPr>
              <a:t>Local model returns technique activity.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FCABAD-4CED-B126-499B-323DA8017A1A}"/>
              </a:ext>
            </a:extLst>
          </p:cNvPr>
          <p:cNvSpPr/>
          <p:nvPr/>
        </p:nvSpPr>
        <p:spPr>
          <a:xfrm>
            <a:off x="786384" y="4956048"/>
            <a:ext cx="10378440" cy="658368"/>
          </a:xfrm>
          <a:prstGeom prst="round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670A8D-A8A3-4588-1254-0C8C11D1452C}"/>
              </a:ext>
            </a:extLst>
          </p:cNvPr>
          <p:cNvSpPr txBox="1"/>
          <p:nvPr/>
        </p:nvSpPr>
        <p:spPr>
          <a:xfrm>
            <a:off x="1051560" y="5175504"/>
            <a:ext cx="9829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Open in Edge: http://127.0.0.1:8080/coach/web/    Technique health: http://127.0.0.1:8765/health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3F0BD5-68EF-9DCD-E804-6FF9CB002718}"/>
              </a:ext>
            </a:extLst>
          </p:cNvPr>
          <p:cNvSpPr txBox="1"/>
          <p:nvPr/>
        </p:nvSpPr>
        <p:spPr>
          <a:xfrm>
            <a:off x="566928" y="6510528"/>
            <a:ext cx="109728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AAAAA"/>
                </a:solidFill>
                <a:latin typeface="Aptos" panose="020B0004020202020204" pitchFamily="34" charset="0"/>
              </a:rPr>
              <a:t>Cue: After this, switch away from slides. The audience knows the exact sequence they are about to see.</a:t>
            </a:r>
          </a:p>
        </p:txBody>
      </p:sp>
    </p:spTree>
    <p:extLst>
      <p:ext uri="{BB962C8B-B14F-4D97-AF65-F5344CB8AC3E}">
        <p14:creationId xmlns:p14="http://schemas.microsoft.com/office/powerpoint/2010/main" val="160078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072909-62F0-8639-E0DA-0424A4DA62A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A3F3B-16EE-7A16-4FB7-8FE0ACFAFA2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C510C7-DCB5-65F8-2FF6-A44E011AA629}"/>
              </a:ext>
            </a:extLst>
          </p:cNvPr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FA8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8591F4-7B2F-8A0A-8981-DD4E69E753EE}"/>
              </a:ext>
            </a:extLst>
          </p:cNvPr>
          <p:cNvSpPr/>
          <p:nvPr/>
        </p:nvSpPr>
        <p:spPr>
          <a:xfrm>
            <a:off x="621792" y="566928"/>
            <a:ext cx="914400" cy="310896"/>
          </a:xfrm>
          <a:prstGeom prst="roundRect">
            <a:avLst/>
          </a:prstGeom>
          <a:solidFill>
            <a:srgbClr val="30FC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HANDOFF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C4316-5656-72DE-8594-7534D4DE2AE2}"/>
              </a:ext>
            </a:extLst>
          </p:cNvPr>
          <p:cNvSpPr txBox="1"/>
          <p:nvPr/>
        </p:nvSpPr>
        <p:spPr>
          <a:xfrm>
            <a:off x="621792" y="932688"/>
            <a:ext cx="877824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What is real today, and what comes next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3CAE4F-FE88-C10B-526B-12D095462ABF}"/>
              </a:ext>
            </a:extLst>
          </p:cNvPr>
          <p:cNvSpPr/>
          <p:nvPr/>
        </p:nvSpPr>
        <p:spPr>
          <a:xfrm>
            <a:off x="804672" y="1691640"/>
            <a:ext cx="4526280" cy="3337560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266FF-7A2D-CCFB-2FD5-C41DED96BBEC}"/>
              </a:ext>
            </a:extLst>
          </p:cNvPr>
          <p:cNvSpPr txBox="1"/>
          <p:nvPr/>
        </p:nvSpPr>
        <p:spPr>
          <a:xfrm>
            <a:off x="1078992" y="1984248"/>
            <a:ext cx="18288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Real today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37477-AFB9-228D-E779-1177FD127C23}"/>
              </a:ext>
            </a:extLst>
          </p:cNvPr>
          <p:cNvSpPr txBox="1"/>
          <p:nvPr/>
        </p:nvSpPr>
        <p:spPr>
          <a:xfrm>
            <a:off x="1115568" y="2542032"/>
            <a:ext cx="3611880" cy="13849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D4D4D4"/>
                </a:solidFill>
                <a:latin typeface="Aptos" panose="020B0004020202020204" pitchFamily="34" charset="0"/>
              </a:rPr>
              <a:t>Full browser recording flow</a:t>
            </a:r>
          </a:p>
          <a:p>
            <a:r>
              <a:rPr lang="en-US">
                <a:solidFill>
                  <a:srgbClr val="D4D4D4"/>
                </a:solidFill>
                <a:latin typeface="Aptos" panose="020B0004020202020204" pitchFamily="34" charset="0"/>
              </a:rPr>
              <a:t>Realtime pitch signal</a:t>
            </a:r>
          </a:p>
          <a:p>
            <a:r>
              <a:rPr lang="en-US">
                <a:solidFill>
                  <a:srgbClr val="D4D4D4"/>
                </a:solidFill>
                <a:latin typeface="Aptos" panose="020B0004020202020204" pitchFamily="34" charset="0"/>
              </a:rPr>
              <a:t>Tempo and volume summaries</a:t>
            </a:r>
          </a:p>
          <a:p>
            <a:r>
              <a:rPr lang="en-US">
                <a:solidFill>
                  <a:srgbClr val="D4D4D4"/>
                </a:solidFill>
                <a:latin typeface="Aptos" panose="020B0004020202020204" pitchFamily="34" charset="0"/>
              </a:rPr>
              <a:t>Technique API connected</a:t>
            </a:r>
          </a:p>
          <a:p>
            <a:r>
              <a:rPr lang="en-US">
                <a:solidFill>
                  <a:srgbClr val="D4D4D4"/>
                </a:solidFill>
                <a:latin typeface="Aptos" panose="020B0004020202020204" pitchFamily="34" charset="0"/>
              </a:rPr>
              <a:t>One report from one take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ECD7FB-D9F6-CC78-30D3-01E99F049080}"/>
              </a:ext>
            </a:extLst>
          </p:cNvPr>
          <p:cNvSpPr/>
          <p:nvPr/>
        </p:nvSpPr>
        <p:spPr>
          <a:xfrm>
            <a:off x="5687568" y="1691640"/>
            <a:ext cx="4983480" cy="3337560"/>
          </a:xfrm>
          <a:prstGeom prst="roundRect">
            <a:avLst/>
          </a:prstGeom>
          <a:solidFill>
            <a:srgbClr val="202623"/>
          </a:solidFill>
          <a:ln w="1524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C5675-2F52-D9ED-C41B-886566C26620}"/>
              </a:ext>
            </a:extLst>
          </p:cNvPr>
          <p:cNvSpPr txBox="1"/>
          <p:nvPr/>
        </p:nvSpPr>
        <p:spPr>
          <a:xfrm>
            <a:off x="5961888" y="1984248"/>
            <a:ext cx="201168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Still improving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FF5762-9107-09C7-B8F7-62D459EF0404}"/>
              </a:ext>
            </a:extLst>
          </p:cNvPr>
          <p:cNvSpPr txBox="1"/>
          <p:nvPr/>
        </p:nvSpPr>
        <p:spPr>
          <a:xfrm>
            <a:off x="5989320" y="2560320"/>
            <a:ext cx="4041648" cy="13849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D4D4D4"/>
                </a:solidFill>
                <a:latin typeface="Aptos" panose="020B0004020202020204" pitchFamily="34" charset="0"/>
              </a:rPr>
              <a:t>Technique is demo-grade and trained on GT Singer. A true generalized singing grade needs more app-style labeled takes across singers, tempos, pitch ranges, volume control, and technique.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BA90E8-6E3C-59D4-93FB-176D959E1A70}"/>
              </a:ext>
            </a:extLst>
          </p:cNvPr>
          <p:cNvSpPr/>
          <p:nvPr/>
        </p:nvSpPr>
        <p:spPr>
          <a:xfrm>
            <a:off x="4407408" y="5504688"/>
            <a:ext cx="2514600" cy="310896"/>
          </a:xfrm>
          <a:prstGeom prst="roundRect">
            <a:avLst/>
          </a:prstGeom>
          <a:solidFill>
            <a:srgbClr val="D084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NOW: LIVE DEMO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940AC-B6FB-C373-104D-854D00966C23}"/>
              </a:ext>
            </a:extLst>
          </p:cNvPr>
          <p:cNvSpPr txBox="1"/>
          <p:nvPr/>
        </p:nvSpPr>
        <p:spPr>
          <a:xfrm>
            <a:off x="566928" y="6510528"/>
            <a:ext cx="109728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AAAAA"/>
                </a:solidFill>
                <a:latin typeface="Aptos" panose="020B0004020202020204" pitchFamily="34" charset="0"/>
              </a:rPr>
              <a:t>Cue: Do not over-explain this. End here and immediately record the live take in Edge.</a:t>
            </a:r>
          </a:p>
        </p:txBody>
      </p:sp>
    </p:spTree>
    <p:extLst>
      <p:ext uri="{BB962C8B-B14F-4D97-AF65-F5344CB8AC3E}">
        <p14:creationId xmlns:p14="http://schemas.microsoft.com/office/powerpoint/2010/main" val="3015411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Custom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Chase,Brady</dc:creator>
  <cp:lastModifiedBy>Chase,Brady</cp:lastModifiedBy>
  <cp:revision>1</cp:revision>
  <dcterms:created xsi:type="dcterms:W3CDTF">2026-06-02T01:53:58Z</dcterms:created>
  <dcterms:modified xsi:type="dcterms:W3CDTF">2026-06-02T01:53:58Z</dcterms:modified>
</cp:coreProperties>
</file>